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29A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PODS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732520" y="16459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60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AI-NATIVE BANKING &amp; REGULATORY LEARNING</a:t>
            </a:r>
            <a:endParaRPr lang="en-US" sz="740" dirty="0"/>
          </a:p>
        </p:txBody>
      </p:sp>
      <p:sp>
        <p:nvSpPr>
          <p:cNvPr id="4" name="Shape 2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0160">
            <a:solidFill>
              <a:srgbClr val="1D3A5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9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9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futuristic_ui_technology_sce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1">
              <a:alpha val="72000"/>
            </a:srgbClr>
          </a:solidFill>
          <a:ln w="12700">
            <a:solidFill>
              <a:srgbClr val="06142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61421">
              <a:alpha val="92000"/>
            </a:srgbClr>
          </a:solidFill>
          <a:ln w="12700">
            <a:solidFill>
              <a:srgbClr val="061421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105156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3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FINANCIAL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3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PODS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94944" y="257860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32C4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AI-Native Banking &amp; Regulatory Learning Platform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04088" y="344728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synthesis • Product blueprint • Technical architecture • Commercial model • Implementation roadmap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13232" y="4535424"/>
            <a:ext cx="987552" cy="310896"/>
          </a:xfrm>
          <a:prstGeom prst="roundRect">
            <a:avLst>
              <a:gd name="adj" fmla="val 29412"/>
            </a:avLst>
          </a:prstGeom>
          <a:solidFill>
            <a:srgbClr val="0E2B3E"/>
          </a:solidFill>
          <a:ln w="12700">
            <a:solidFill>
              <a:srgbClr val="D1A6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4599432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3F7F9"/>
                </a:solidFill>
              </a:rPr>
              <a:t>BASEL</a:t>
            </a:r>
            <a:endParaRPr lang="en-US" sz="830" dirty="0"/>
          </a:p>
        </p:txBody>
      </p:sp>
      <p:sp>
        <p:nvSpPr>
          <p:cNvPr id="10" name="Shape 7"/>
          <p:cNvSpPr/>
          <p:nvPr/>
        </p:nvSpPr>
        <p:spPr>
          <a:xfrm>
            <a:off x="1810512" y="4535424"/>
            <a:ext cx="987552" cy="310896"/>
          </a:xfrm>
          <a:prstGeom prst="roundRect">
            <a:avLst>
              <a:gd name="adj" fmla="val 29412"/>
            </a:avLst>
          </a:prstGeom>
          <a:solidFill>
            <a:srgbClr val="0E2B3E"/>
          </a:solidFill>
          <a:ln w="12700">
            <a:solidFill>
              <a:srgbClr val="32C4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83664" y="4599432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3F7F9"/>
                </a:solidFill>
              </a:rPr>
              <a:t>SAMA</a:t>
            </a:r>
            <a:endParaRPr lang="en-US" sz="830" dirty="0"/>
          </a:p>
        </p:txBody>
      </p:sp>
      <p:sp>
        <p:nvSpPr>
          <p:cNvPr id="12" name="Shape 9"/>
          <p:cNvSpPr/>
          <p:nvPr/>
        </p:nvSpPr>
        <p:spPr>
          <a:xfrm>
            <a:off x="2907792" y="4535424"/>
            <a:ext cx="987552" cy="310896"/>
          </a:xfrm>
          <a:prstGeom prst="roundRect">
            <a:avLst>
              <a:gd name="adj" fmla="val 29412"/>
            </a:avLst>
          </a:prstGeom>
          <a:solidFill>
            <a:srgbClr val="0E2B3E"/>
          </a:solidFill>
          <a:ln w="12700">
            <a:solidFill>
              <a:srgbClr val="32C4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80944" y="4599432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3F7F9"/>
                </a:solidFill>
              </a:rPr>
              <a:t>UAE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4005072" y="4535424"/>
            <a:ext cx="804672" cy="310896"/>
          </a:xfrm>
          <a:prstGeom prst="roundRect">
            <a:avLst>
              <a:gd name="adj" fmla="val 29412"/>
            </a:avLst>
          </a:prstGeom>
          <a:solidFill>
            <a:srgbClr val="0E2B3E"/>
          </a:solidFill>
          <a:ln w="12700">
            <a:solidFill>
              <a:srgbClr val="32C4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78224" y="459943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3F7F9"/>
                </a:solidFill>
              </a:rPr>
              <a:t>US</a:t>
            </a:r>
            <a:endParaRPr lang="en-US" sz="830" dirty="0"/>
          </a:p>
        </p:txBody>
      </p:sp>
      <p:sp>
        <p:nvSpPr>
          <p:cNvPr id="16" name="Text 13"/>
          <p:cNvSpPr/>
          <p:nvPr/>
        </p:nvSpPr>
        <p:spPr>
          <a:xfrm>
            <a:off x="704088" y="506577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D1A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 first. Then Regulatory Reporting, ALM, FTP, Profitability, Liquidity and Financial Crime.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713232" y="6172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</a:rPr>
              <a:t>August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thesis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opportunity is not AI video. It is an AI learning operating system for regulated banking roles.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03520" cy="3383280"/>
          </a:xfrm>
          <a:prstGeom prst="roundRect">
            <a:avLst>
              <a:gd name="adj" fmla="val 1622"/>
            </a:avLst>
          </a:prstGeom>
          <a:solidFill>
            <a:srgbClr val="0E2A3D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792224"/>
            <a:ext cx="4974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1A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PRODUCT PROMISE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2176272"/>
            <a:ext cx="4974336" cy="2706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the rule.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the bank.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numbers.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the expert.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the job.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6236208" y="1645920"/>
            <a:ext cx="5303520" cy="1005840"/>
          </a:xfrm>
          <a:prstGeom prst="roundRect">
            <a:avLst>
              <a:gd name="adj" fmla="val 5455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792224"/>
            <a:ext cx="4974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2C4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TUTOR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2176272"/>
            <a:ext cx="49743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Explains • questions • scaffolds • personalizes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6208" y="2770632"/>
            <a:ext cx="5303520" cy="1005840"/>
          </a:xfrm>
          <a:prstGeom prst="roundRect">
            <a:avLst>
              <a:gd name="adj" fmla="val 5455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916936"/>
            <a:ext cx="4974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1A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DETERMINISTIC FINANCE ENGINE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3300984"/>
            <a:ext cx="49743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Calculates EAD • RW • RWA • capital — never delegated to the LLM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6208" y="3895344"/>
            <a:ext cx="5303520" cy="1005840"/>
          </a:xfrm>
          <a:prstGeom prst="roundRect">
            <a:avLst>
              <a:gd name="adj" fmla="val 5455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041648"/>
            <a:ext cx="4974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2C4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OFFICIAL-RULE GROUNDING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4425696"/>
            <a:ext cx="49743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BCBS canonical baseline + jurisdiction overlays + source citations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36208" y="5020056"/>
            <a:ext cx="5303520" cy="1005840"/>
          </a:xfrm>
          <a:prstGeom prst="roundRect">
            <a:avLst>
              <a:gd name="adj" fmla="val 5455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5166360"/>
            <a:ext cx="4974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1A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PRACTITIONER REVIEW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5550408"/>
            <a:ext cx="49743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SME sign-off before regulated learning content is published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9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research already proves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exists for serious finance education and AI-native learning. Our differentiation must go deeper than “video + chatbot.”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651760" cy="1325880"/>
          </a:xfrm>
          <a:prstGeom prst="roundRect">
            <a:avLst>
              <a:gd name="adj" fmla="val 4138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792224"/>
            <a:ext cx="2322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2C4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VIZZ / VIZUARA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" y="2176272"/>
            <a:ext cx="232257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Realtime voice, timeline Q&amp;A, multilingual interaction and Active Mode validate the interaction pattern.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3493008" y="1645920"/>
            <a:ext cx="2651760" cy="1325880"/>
          </a:xfrm>
          <a:prstGeom prst="roundRect">
            <a:avLst>
              <a:gd name="adj" fmla="val 4138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792224"/>
            <a:ext cx="2322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7AED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CFI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2176272"/>
            <a:ext cx="232257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Tutor is already embedded into finance learning and uses course/progress context.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6345936" y="1645920"/>
            <a:ext cx="2651760" cy="1325880"/>
          </a:xfrm>
          <a:prstGeom prst="roundRect">
            <a:avLst>
              <a:gd name="adj" fmla="val 4138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1792224"/>
            <a:ext cx="2322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1A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10528" y="2176272"/>
            <a:ext cx="232257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 remains a premium professional training topic with practical exercises.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9198864" y="1645920"/>
            <a:ext cx="2340864" cy="1325880"/>
          </a:xfrm>
          <a:prstGeom prst="roundRect">
            <a:avLst>
              <a:gd name="adj" fmla="val 4138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63456" y="179222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6D3A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ACAMS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63456" y="2176272"/>
            <a:ext cx="2011680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financial-crime learning and certification is an established category.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310128"/>
            <a:ext cx="10899648" cy="2331720"/>
          </a:xfrm>
          <a:prstGeom prst="roundRect">
            <a:avLst/>
          </a:prstGeom>
          <a:solidFill>
            <a:srgbClr val="0C2335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566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1A64D"/>
                </a:solidFill>
              </a:rPr>
              <a:t>What is still missing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4023360"/>
            <a:ext cx="100584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prudential rules connected directly to bank products, data and calculations.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persistent Digital Bank that reappears across Basel, ALM, FTP and profitability.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Jurisdiction comparison: BCBS vs U.S. vs SAMA vs CBUAE.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labs and job-oriented simulations, not only lectures.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 mastery at the concept / misconception level.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6345936"/>
            <a:ext cx="10652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i="1" dirty="0">
                <a:solidFill>
                  <a:srgbClr val="5D78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Vizz pricing/terms; CFI AI Tutor; Fitch Basel III; ACAMS; Scientific Reports AI tutor study (2025).</a:t>
            </a:r>
            <a:endParaRPr lang="en-US" sz="6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9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Competitive white space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layer is becoming common. The moat must live in the finance-specific system underneath it.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234440" y="5440680"/>
            <a:ext cx="9006840" cy="0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691640"/>
            <a:ext cx="0" cy="3749040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37667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8"/>
                </a:solidFill>
              </a:rPr>
              <a:t>Passive content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006840" y="55321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8"/>
                </a:solidFill>
              </a:rPr>
              <a:t>Executable / simulated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 rot="16200000">
            <a:off x="438912" y="50292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8"/>
                </a:solidFill>
              </a:rPr>
              <a:t>Generic 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 rot="16200000">
            <a:off x="201168" y="16002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8"/>
                </a:solidFill>
              </a:rPr>
              <a:t>Finance-domain infrastructure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834640" y="4343400"/>
            <a:ext cx="256032" cy="256032"/>
          </a:xfrm>
          <a:prstGeom prst="ellipse">
            <a:avLst/>
          </a:prstGeom>
          <a:solidFill>
            <a:srgbClr val="D1A64D"/>
          </a:solidFill>
          <a:ln w="12700">
            <a:solidFill>
              <a:srgbClr val="D1A6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43159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A64D"/>
                </a:solidFill>
              </a:rPr>
              <a:t>Fitch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0" y="3611880"/>
            <a:ext cx="256032" cy="256032"/>
          </a:xfrm>
          <a:prstGeom prst="ellipse">
            <a:avLst/>
          </a:prstGeom>
          <a:solidFill>
            <a:srgbClr val="67AEDD"/>
          </a:solidFill>
          <a:ln w="12700">
            <a:solidFill>
              <a:srgbClr val="67AE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35844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AEDD"/>
                </a:solidFill>
              </a:rPr>
              <a:t>CFI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4343400"/>
            <a:ext cx="256032" cy="256032"/>
          </a:xfrm>
          <a:prstGeom prst="ellipse">
            <a:avLst/>
          </a:prstGeom>
          <a:solidFill>
            <a:srgbClr val="32C4C4"/>
          </a:solidFill>
          <a:ln w="12700">
            <a:solidFill>
              <a:srgbClr val="32C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43159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2C4C4"/>
                </a:solidFill>
              </a:rPr>
              <a:t>Vizz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4800600"/>
            <a:ext cx="256032" cy="256032"/>
          </a:xfrm>
          <a:prstGeom prst="ellipse">
            <a:avLst/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47731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</a:rPr>
              <a:t>Generic LLM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0" y="2148840"/>
            <a:ext cx="256032" cy="256032"/>
          </a:xfrm>
          <a:prstGeom prst="ellipse">
            <a:avLst/>
          </a:prstGeom>
          <a:solidFill>
            <a:srgbClr val="66D3A0"/>
          </a:solidFill>
          <a:ln w="12700">
            <a:solidFill>
              <a:srgbClr val="66D3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9640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D3A0"/>
                </a:solidFill>
              </a:rPr>
              <a:t>FINANCIAL PODS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23960" y="2880360"/>
            <a:ext cx="2377440" cy="1874520"/>
          </a:xfrm>
          <a:prstGeom prst="roundRect">
            <a:avLst>
              <a:gd name="adj" fmla="val 2927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88552" y="3026664"/>
            <a:ext cx="20482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6D3A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MOAT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88552" y="3410712"/>
            <a:ext cx="2048256" cy="1197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grounding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tools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FinBank Digital Twin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Jurisdiction maps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labs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 mastery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9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Financial Pods is the platform — Basel is the first wedge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reusable tutor, Digital Bank and learning engine can support multiple banking disciplines.</a:t>
            </a:r>
            <a:endParaRPr lang="en-US" sz="1100" dirty="0"/>
          </a:p>
        </p:txBody>
      </p:sp>
      <p:pic>
        <p:nvPicPr>
          <p:cNvPr id="4" name="Image 0" descr="/mnt/data/financial_pods_assets/product_eco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72768"/>
            <a:ext cx="10881360" cy="45902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9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Long-term Pod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launch everything at once. Build the platform once, then expand domain packs deliberately.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3232" y="1600200"/>
            <a:ext cx="10698480" cy="475488"/>
          </a:xfrm>
          <a:prstGeom prst="roundRect">
            <a:avLst/>
          </a:prstGeom>
          <a:solidFill>
            <a:srgbClr val="123448"/>
          </a:solidFill>
          <a:ln w="21590">
            <a:solidFill>
              <a:srgbClr val="D1A6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71907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1A64D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169164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7F9"/>
                </a:solidFill>
              </a:rPr>
              <a:t>Basel Regulatory Capital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46920" y="1682496"/>
            <a:ext cx="1143000" cy="310896"/>
          </a:xfrm>
          <a:prstGeom prst="roundRect">
            <a:avLst>
              <a:gd name="adj" fmla="val 29412"/>
            </a:avLst>
          </a:prstGeom>
          <a:solidFill>
            <a:srgbClr val="0E2B3E"/>
          </a:solidFill>
          <a:ln w="12700">
            <a:solidFill>
              <a:srgbClr val="D1A6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20072" y="1746504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3F7F9"/>
                </a:solidFill>
              </a:rPr>
              <a:t>LAUNCH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713232" y="2258568"/>
            <a:ext cx="10698480" cy="475488"/>
          </a:xfrm>
          <a:prstGeom prst="roundRect">
            <a:avLst/>
          </a:prstGeom>
          <a:solidFill>
            <a:srgbClr val="0D2437"/>
          </a:solidFill>
          <a:ln w="12700">
            <a:solidFill>
              <a:srgbClr val="2647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3774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2C4C4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23500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7F9"/>
                </a:solidFill>
              </a:rPr>
              <a:t>Regulatory Reporting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646920" y="2340864"/>
            <a:ext cx="1143000" cy="310896"/>
          </a:xfrm>
          <a:prstGeom prst="roundRect">
            <a:avLst>
              <a:gd name="adj" fmla="val 29412"/>
            </a:avLst>
          </a:prstGeom>
          <a:solidFill>
            <a:srgbClr val="0E2B3E"/>
          </a:solidFill>
          <a:ln w="12700">
            <a:solidFill>
              <a:srgbClr val="32C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20072" y="2404872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3F7F9"/>
                </a:solidFill>
              </a:rPr>
              <a:t>NEXT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713232" y="2916936"/>
            <a:ext cx="10698480" cy="475488"/>
          </a:xfrm>
          <a:prstGeom prst="roundRect">
            <a:avLst/>
          </a:prstGeom>
          <a:solidFill>
            <a:srgbClr val="0D2437"/>
          </a:solidFill>
          <a:ln w="12700">
            <a:solidFill>
              <a:srgbClr val="2647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0358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AEDD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17320" y="3008376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7F9"/>
                </a:solidFill>
              </a:rPr>
              <a:t>ALM / IRRBB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646920" y="2999232"/>
            <a:ext cx="1143000" cy="310896"/>
          </a:xfrm>
          <a:prstGeom prst="roundRect">
            <a:avLst>
              <a:gd name="adj" fmla="val 29412"/>
            </a:avLst>
          </a:prstGeom>
          <a:solidFill>
            <a:srgbClr val="0E2B3E"/>
          </a:solidFill>
          <a:ln w="12700">
            <a:solidFill>
              <a:srgbClr val="67AE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20072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3F7F9"/>
                </a:solidFill>
              </a:rPr>
              <a:t>THEN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713232" y="3575304"/>
            <a:ext cx="10698480" cy="475488"/>
          </a:xfrm>
          <a:prstGeom prst="roundRect">
            <a:avLst/>
          </a:prstGeom>
          <a:solidFill>
            <a:srgbClr val="0D2437"/>
          </a:solidFill>
          <a:ln w="12700">
            <a:solidFill>
              <a:srgbClr val="2647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36941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AEDD"/>
                </a:solidFill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17320" y="3666744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7F9"/>
                </a:solidFill>
              </a:rPr>
              <a:t>Fund Transfer Pricing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646920" y="3657600"/>
            <a:ext cx="1143000" cy="310896"/>
          </a:xfrm>
          <a:prstGeom prst="roundRect">
            <a:avLst>
              <a:gd name="adj" fmla="val 29412"/>
            </a:avLst>
          </a:prstGeom>
          <a:solidFill>
            <a:srgbClr val="0E2B3E"/>
          </a:solidFill>
          <a:ln w="12700">
            <a:solidFill>
              <a:srgbClr val="67AE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20072" y="3721608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3F7F9"/>
                </a:solidFill>
              </a:rPr>
              <a:t>THEN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713232" y="4233672"/>
            <a:ext cx="10698480" cy="475488"/>
          </a:xfrm>
          <a:prstGeom prst="roundRect">
            <a:avLst/>
          </a:prstGeom>
          <a:solidFill>
            <a:srgbClr val="0D2437"/>
          </a:solidFill>
          <a:ln w="12700">
            <a:solidFill>
              <a:srgbClr val="2647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435254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D3A0"/>
                </a:solidFill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17320" y="432511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7F9"/>
                </a:solidFill>
              </a:rPr>
              <a:t>Profitability / RAROC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646920" y="4315968"/>
            <a:ext cx="1143000" cy="310896"/>
          </a:xfrm>
          <a:prstGeom prst="roundRect">
            <a:avLst>
              <a:gd name="adj" fmla="val 29412"/>
            </a:avLst>
          </a:prstGeom>
          <a:solidFill>
            <a:srgbClr val="0E2B3E"/>
          </a:solidFill>
          <a:ln w="12700">
            <a:solidFill>
              <a:srgbClr val="66D3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20072" y="4379976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3F7F9"/>
                </a:solidFill>
              </a:rPr>
              <a:t>THEN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713232" y="4892040"/>
            <a:ext cx="10698480" cy="475488"/>
          </a:xfrm>
          <a:prstGeom prst="roundRect">
            <a:avLst/>
          </a:prstGeom>
          <a:solidFill>
            <a:srgbClr val="0D2437"/>
          </a:solidFill>
          <a:ln w="12700">
            <a:solidFill>
              <a:srgbClr val="2647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" y="50109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2C4C4"/>
                </a:solidFill>
              </a:rPr>
              <a:t>06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17320" y="498348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7F9"/>
                </a:solidFill>
              </a:rPr>
              <a:t>Liquidity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646920" y="4974336"/>
            <a:ext cx="1143000" cy="310896"/>
          </a:xfrm>
          <a:prstGeom prst="roundRect">
            <a:avLst>
              <a:gd name="adj" fmla="val 29412"/>
            </a:avLst>
          </a:prstGeom>
          <a:solidFill>
            <a:srgbClr val="0E2B3E"/>
          </a:solidFill>
          <a:ln w="12700">
            <a:solidFill>
              <a:srgbClr val="32C4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0072" y="5038344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3F7F9"/>
                </a:solidFill>
              </a:rPr>
              <a:t>LATER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713232" y="5550408"/>
            <a:ext cx="10698480" cy="475488"/>
          </a:xfrm>
          <a:prstGeom prst="roundRect">
            <a:avLst/>
          </a:prstGeom>
          <a:solidFill>
            <a:srgbClr val="0D2437"/>
          </a:solidFill>
          <a:ln w="12700">
            <a:solidFill>
              <a:srgbClr val="2647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56692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1A64D"/>
                </a:solidFill>
              </a:rPr>
              <a:t>07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417320" y="564184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7F9"/>
                </a:solidFill>
              </a:rPr>
              <a:t>Financial Crime / AML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646920" y="5632704"/>
            <a:ext cx="1143000" cy="310896"/>
          </a:xfrm>
          <a:prstGeom prst="roundRect">
            <a:avLst>
              <a:gd name="adj" fmla="val 29412"/>
            </a:avLst>
          </a:prstGeom>
          <a:solidFill>
            <a:srgbClr val="0E2B3E"/>
          </a:solidFill>
          <a:ln w="12700">
            <a:solidFill>
              <a:srgbClr val="D1A6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20072" y="5696712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3F7F9"/>
                </a:solidFill>
              </a:rPr>
              <a:t>LATER</a:t>
            </a:r>
            <a:endParaRPr lang="en-US" sz="830" dirty="0"/>
          </a:p>
        </p:txBody>
      </p:sp>
      <p:sp>
        <p:nvSpPr>
          <p:cNvPr id="39" name="Text 37"/>
          <p:cNvSpPr/>
          <p:nvPr/>
        </p:nvSpPr>
        <p:spPr>
          <a:xfrm>
            <a:off x="777240" y="62636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C8"/>
                </a:solidFill>
              </a:rPr>
              <a:t>The same synthetic products and customers should reappear across Pods so learners understand how the bank works end-to-end.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9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 Pod — first commercial wedge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 BCBS concepts + U.S., SAMA and CBUAE implementation tracks.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2743200" cy="4251960"/>
          </a:xfrm>
          <a:prstGeom prst="roundRect">
            <a:avLst>
              <a:gd name="adj" fmla="val 2000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773936"/>
            <a:ext cx="2414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1A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2157984"/>
            <a:ext cx="2414016" cy="3575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 balance sheet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capital exists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 I / II / III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Pillars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Exposure • EAD • RW • RWA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CET1 • AT1 • Tier 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21024" y="1627632"/>
            <a:ext cx="3703320" cy="4251960"/>
          </a:xfrm>
          <a:prstGeom prst="roundRect">
            <a:avLst>
              <a:gd name="adj" fmla="val 1481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85616" y="1773936"/>
            <a:ext cx="33741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2C4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CREDIT RISK SA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85616" y="2157984"/>
            <a:ext cx="3374136" cy="3575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Sovereigns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Banks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Corporates &amp; SMEs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Residential Real Estate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Real Estate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Defaulted exposures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Off-balance sheet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basics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7516368" y="1627632"/>
            <a:ext cx="4005072" cy="1920240"/>
          </a:xfrm>
          <a:prstGeom prst="roundRect">
            <a:avLst>
              <a:gd name="adj" fmla="val 2857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1773936"/>
            <a:ext cx="3675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7AED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JURISDICTIONS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0" y="2157984"/>
            <a:ext cx="3675888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BCBS baseline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U.S. current + March 2026 proposals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Saudi Arabia / SAMA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UAE / CBUAE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7516368" y="3703320"/>
            <a:ext cx="4005072" cy="2176272"/>
          </a:xfrm>
          <a:prstGeom prst="roundRect">
            <a:avLst>
              <a:gd name="adj" fmla="val 2521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3849624"/>
            <a:ext cx="3675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6D3A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REPORTING INTRO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80960" y="4233672"/>
            <a:ext cx="3675888" cy="1499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Calculated exposures aggregate into capital and reporting schedules. Future labs: FFIEC, FR Y-14, SAMA Q17, UAE reporting/disclosures.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594360" y="6345936"/>
            <a:ext cx="10652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i="1" dirty="0">
                <a:solidFill>
                  <a:srgbClr val="5D78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BIS CRE20; Federal Reserve March 2026 proposals; SAMA Minimum Capital Requirements for Credit Risk; CBUAE capital standards/guidance.</a:t>
            </a:r>
            <a:endParaRPr lang="en-US" sz="6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9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Golden Lesson 001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 Exposure — From a Bank Loan to Regulatory Capital. This one lesson must prove the whole product experience.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609344"/>
            <a:ext cx="2578608" cy="1609344"/>
          </a:xfrm>
          <a:prstGeom prst="roundRect">
            <a:avLst>
              <a:gd name="adj" fmla="val 3409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55648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2C4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Context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139696"/>
            <a:ext cx="2249424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FinBank receives a $10m corporate term loan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3465576" y="1609344"/>
            <a:ext cx="2578608" cy="1609344"/>
          </a:xfrm>
          <a:prstGeom prst="roundRect">
            <a:avLst>
              <a:gd name="adj" fmla="val 3409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0168" y="1755648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2C4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Classify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30168" y="2139696"/>
            <a:ext cx="2249424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exposure class applies?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272784" y="1609344"/>
            <a:ext cx="2578608" cy="1609344"/>
          </a:xfrm>
          <a:prstGeom prst="roundRect">
            <a:avLst>
              <a:gd name="adj" fmla="val 3409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1755648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2C4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Source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37376" y="2139696"/>
            <a:ext cx="2249424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BCBS / SAMA / UAE / U.S. rule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9079992" y="1609344"/>
            <a:ext cx="2578608" cy="1609344"/>
          </a:xfrm>
          <a:prstGeom prst="roundRect">
            <a:avLst>
              <a:gd name="adj" fmla="val 3409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44584" y="1755648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2C4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Calculate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244584" y="2139696"/>
            <a:ext cx="2249424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EAD → Risk Weight → RWA → capital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58368" y="3529584"/>
            <a:ext cx="2578608" cy="1609344"/>
          </a:xfrm>
          <a:prstGeom prst="roundRect">
            <a:avLst>
              <a:gd name="adj" fmla="val 3409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675888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D1A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Manipulate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4059936"/>
            <a:ext cx="2249424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rating, revenue, collateral, jurisdiction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3465576" y="3529584"/>
            <a:ext cx="2578608" cy="1609344"/>
          </a:xfrm>
          <a:prstGeom prst="roundRect">
            <a:avLst>
              <a:gd name="adj" fmla="val 3409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0168" y="3675888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D1A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Interrupt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630168" y="4059936"/>
            <a:ext cx="2249424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Pause and ask by chat or voice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272784" y="3529584"/>
            <a:ext cx="2578608" cy="1609344"/>
          </a:xfrm>
          <a:prstGeom prst="roundRect">
            <a:avLst>
              <a:gd name="adj" fmla="val 3409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37376" y="3675888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D1A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Compare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37376" y="4059936"/>
            <a:ext cx="2249424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jurisdiction differences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9079992" y="3529584"/>
            <a:ext cx="2578608" cy="1609344"/>
          </a:xfrm>
          <a:prstGeom prst="roundRect">
            <a:avLst>
              <a:gd name="adj" fmla="val 3409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44584" y="3675888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D1A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Prove mastery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244584" y="4059936"/>
            <a:ext cx="2249424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question + practice + voice viva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731520" y="577900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D3A0"/>
                </a:solidFill>
              </a:rPr>
              <a:t>Acceptance gate: do not scale Lesson 002 until English + Arabic + sources + calculator + pause/ask + realtime voice + mastery all work reliably.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9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Pause anywhere. Ask anything about the exact moment.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tutor should know the current timestamp, rule, example, jurisdiction and on-screen calculation.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6720840" cy="4480560"/>
          </a:xfrm>
          <a:prstGeom prst="roundRect">
            <a:avLst/>
          </a:prstGeom>
          <a:solidFill>
            <a:srgbClr val="07131E"/>
          </a:solidFill>
          <a:ln w="16510">
            <a:solidFill>
              <a:srgbClr val="2647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74650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7F9"/>
                </a:solidFill>
              </a:rPr>
              <a:t>Lesson 001  •  Corporate Exposures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06440" y="17465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</a:rPr>
              <a:t>06:42 / 10:24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60120" y="2240280"/>
            <a:ext cx="4663440" cy="2331720"/>
          </a:xfrm>
          <a:prstGeom prst="roundRect">
            <a:avLst/>
          </a:prstGeom>
          <a:solidFill>
            <a:srgbClr val="102A40"/>
          </a:solidFill>
          <a:ln w="17780">
            <a:solidFill>
              <a:srgbClr val="32C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496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7F9"/>
                </a:solidFill>
              </a:rPr>
              <a:t>Alpha Manufacturing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2907792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F7F9"/>
                </a:solidFill>
              </a:rPr>
              <a:t>Loan              $10,000,000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3F7F9"/>
                </a:solidFill>
              </a:rPr>
              <a:t>Exposure Class    Corporate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3F7F9"/>
                </a:solidFill>
              </a:rPr>
              <a:t>Rating            BBB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3F7F9"/>
                </a:solidFill>
              </a:rPr>
              <a:t>Risk Weight       75%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3F7F9"/>
                </a:solidFill>
              </a:rPr>
              <a:t>RWA               $7,500,000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9264" y="4892040"/>
            <a:ext cx="1508760" cy="438912"/>
          </a:xfrm>
          <a:prstGeom prst="roundRect">
            <a:avLst/>
          </a:prstGeom>
          <a:solidFill>
            <a:srgbClr val="14334A"/>
          </a:solidFill>
          <a:ln w="13970">
            <a:solidFill>
              <a:srgbClr val="D1A6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502005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1A64D"/>
                </a:solidFill>
              </a:rPr>
              <a:t>PAUSE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35240" y="1508760"/>
            <a:ext cx="3886200" cy="4480560"/>
          </a:xfrm>
          <a:prstGeom prst="roundRect">
            <a:avLst>
              <a:gd name="adj" fmla="val 1412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99832" y="1655064"/>
            <a:ext cx="3557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2C4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TUTOR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99832" y="2039112"/>
            <a:ext cx="3557016" cy="3803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“Why is this corporate rather than SME?”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Tutor context: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timestamp 06:42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SAMA jurisdiction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Alpha Manufacturing example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corporate/SME concept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relevant SAMA rule IDs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• Show rule • Modify revenue • Recalculate • Resume lesson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7360920" y="3520440"/>
            <a:ext cx="256032" cy="0"/>
          </a:xfrm>
          <a:prstGeom prst="line">
            <a:avLst/>
          </a:prstGeom>
          <a:noFill/>
          <a:ln w="22860">
            <a:solidFill>
              <a:srgbClr val="D1A64D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9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Adaptive tutor = evidence-based personalization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label users “visual learners.” Adapt from mastery, misconceptions, language, confidence and retention.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2743200" cy="4343400"/>
          </a:xfrm>
          <a:prstGeom prst="roundRect">
            <a:avLst>
              <a:gd name="adj" fmla="val 2000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746504"/>
            <a:ext cx="2414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2C4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LEARNER MODEL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2130552"/>
            <a:ext cx="2414016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Mastery by concept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Misconceptions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vs correctness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Preferred explanation depth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latency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Voice/chat behavior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over time</a:t>
            </a:r>
            <a:endParaRPr lang="en-US" sz="1240" dirty="0"/>
          </a:p>
        </p:txBody>
      </p:sp>
      <p:sp>
        <p:nvSpPr>
          <p:cNvPr id="7" name="Shape 5"/>
          <p:cNvSpPr/>
          <p:nvPr/>
        </p:nvSpPr>
        <p:spPr>
          <a:xfrm>
            <a:off x="3703320" y="1600200"/>
            <a:ext cx="3566160" cy="4343400"/>
          </a:xfrm>
          <a:prstGeom prst="roundRect">
            <a:avLst>
              <a:gd name="adj" fmla="val 1538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67912" y="1746504"/>
            <a:ext cx="32369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1A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TEACHING POLICY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67912" y="2130552"/>
            <a:ext cx="3236976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abstract explanation fails → use worked example.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concept remains weak → return to prerequisite.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confident but wrong → Socratic challenge.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retention decays → spaced review.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voice is preferred → voice-first practice and viva.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43800" y="1600200"/>
            <a:ext cx="3931920" cy="4343400"/>
          </a:xfrm>
          <a:prstGeom prst="roundRect">
            <a:avLst>
              <a:gd name="adj" fmla="val 1395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08392" y="1746504"/>
            <a:ext cx="36027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6D3A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MASTERY OUTPUT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08392" y="2130552"/>
            <a:ext cx="3602736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 Definition       91%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 Exposure      88%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Estate             63%  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                    57%  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SAMA                    87%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UAE                     74%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U.S.                    65%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action: targeted CRM + real-estate cases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6345936"/>
            <a:ext cx="10652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i="1" dirty="0">
                <a:solidFill>
                  <a:srgbClr val="5D78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basis: Scientific Reports (2025) found a carefully designed AI tutor outperformed in-class active learning in the studied setting; pedagogy and scaffolding were central.</a:t>
            </a:r>
            <a:endParaRPr lang="en-US" sz="6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9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FinBank — the reusable Digital Bank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mortgage, corporate loan, deposit and derivative become learning assets across multiple Pods.</a:t>
            </a:r>
            <a:endParaRPr lang="en-US" sz="1100" dirty="0"/>
          </a:p>
        </p:txBody>
      </p:sp>
      <p:pic>
        <p:nvPicPr>
          <p:cNvPr id="4" name="Image 0" descr="/mnt/data/financial_pods_assets/digital_b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72768"/>
            <a:ext cx="10881360" cy="45902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9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multilingual: English + Arabic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is a presentation layer; the rule and calculation layer remains canonical and language-neutral.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337560" cy="4251960"/>
          </a:xfrm>
          <a:prstGeom prst="roundRect">
            <a:avLst>
              <a:gd name="adj" fmla="val 1644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773936"/>
            <a:ext cx="3008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7AED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ENGLISH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2157984"/>
            <a:ext cx="3008376" cy="3575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banking language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master script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Founder voice prototype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BCBS / Fed source text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subtitles and transcript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24528" y="1627632"/>
            <a:ext cx="3337560" cy="4251960"/>
          </a:xfrm>
          <a:prstGeom prst="roundRect">
            <a:avLst>
              <a:gd name="adj" fmla="val 1644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773936"/>
            <a:ext cx="3008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2C4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ARABIC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0" y="2157984"/>
            <a:ext cx="3008376" cy="3575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Standard Arabic for formal teaching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Arabic + English financial terms mode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mixed Arabic-English questions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Arabic tutor voice option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Arabic subtitles and transcript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7763256" y="1627632"/>
            <a:ext cx="3749040" cy="4251960"/>
          </a:xfrm>
          <a:prstGeom prst="roundRect">
            <a:avLst>
              <a:gd name="adj" fmla="val 1463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27848" y="1773936"/>
            <a:ext cx="34198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1A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FOUNDER DIGITAL TUTOR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27848" y="2157984"/>
            <a:ext cx="3419856" cy="3575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Clone your own voice for narration and interactive tutoring.</a:t>
            </a:r>
            <a:endParaRPr lang="en-US" sz="1210" dirty="0"/>
          </a:p>
          <a:p>
            <a:pPr indent="0" marL="0">
              <a:buNone/>
            </a:pP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multilingual cloned Arabic vs a native Arabic professional voice.</a:t>
            </a:r>
            <a:endParaRPr lang="en-US" sz="1210" dirty="0"/>
          </a:p>
          <a:p>
            <a:pPr indent="0" marL="0">
              <a:buNone/>
            </a:pP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 add Hindi, French, Spanish and Portuguese based on demand — without rebuilding the calculations.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594360" y="6345936"/>
            <a:ext cx="10652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i="1" dirty="0">
                <a:solidFill>
                  <a:srgbClr val="5D78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ElevenLabs voice cloning / Arabic TTS; HeyGen multilingual avatar/digital-twin workflows.</a:t>
            </a:r>
            <a:endParaRPr lang="en-US" sz="6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9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World-class lessons require a media factory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different generation tools for different jobs. Financial formulas and numbers must remain deterministic.</a:t>
            </a:r>
            <a:endParaRPr lang="en-US" sz="1100" dirty="0"/>
          </a:p>
        </p:txBody>
      </p:sp>
      <p:pic>
        <p:nvPicPr>
          <p:cNvPr id="4" name="Image 0" descr="/mnt/data/financial_pods_assets/content_fac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10927080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6345936"/>
            <a:ext cx="10652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i="1" dirty="0">
                <a:solidFill>
                  <a:srgbClr val="5D78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tooling examples: Google Nano Banana 2 (image); Google DeepMind Veo 3.1 (video); HeyGen (avatar); ElevenLabs (voice).</a:t>
            </a:r>
            <a:endParaRPr lang="en-US" sz="6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9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Relationships live in the graph; rules determine applicability; finance engines calculate; the tutor teaches.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874520" cy="1965960"/>
          </a:xfrm>
          <a:prstGeom prst="roundRect">
            <a:avLst>
              <a:gd name="adj" fmla="val 2927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975104"/>
            <a:ext cx="1545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1A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REGULATORY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1A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" y="2359152"/>
            <a:ext cx="1545336" cy="1289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• concept • source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jurisdiction • version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2560320" y="2816352"/>
            <a:ext cx="292608" cy="0"/>
          </a:xfrm>
          <a:prstGeom prst="line">
            <a:avLst/>
          </a:prstGeom>
          <a:noFill/>
          <a:ln w="20320">
            <a:solidFill>
              <a:srgbClr val="D1A64D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26080" y="1828800"/>
            <a:ext cx="1874520" cy="1965960"/>
          </a:xfrm>
          <a:prstGeom prst="roundRect">
            <a:avLst>
              <a:gd name="adj" fmla="val 2927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0672" y="1975104"/>
            <a:ext cx="1545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2C4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2C4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90672" y="2359152"/>
            <a:ext cx="1545336" cy="1289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Prerequisite • lesson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exercise • misconception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800600" y="2816352"/>
            <a:ext cx="292608" cy="0"/>
          </a:xfrm>
          <a:prstGeom prst="line">
            <a:avLst/>
          </a:prstGeom>
          <a:noFill/>
          <a:ln w="20320">
            <a:solidFill>
              <a:srgbClr val="D1A64D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66360" y="1828800"/>
            <a:ext cx="1874520" cy="1965960"/>
          </a:xfrm>
          <a:prstGeom prst="roundRect">
            <a:avLst>
              <a:gd name="adj" fmla="val 2927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0952" y="1975104"/>
            <a:ext cx="1545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7AED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RULE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67AED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30952" y="2359152"/>
            <a:ext cx="1545336" cy="1289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rule applies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this version?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040880" y="2816352"/>
            <a:ext cx="292608" cy="0"/>
          </a:xfrm>
          <a:prstGeom prst="line">
            <a:avLst/>
          </a:prstGeom>
          <a:noFill/>
          <a:ln w="20320">
            <a:solidFill>
              <a:srgbClr val="D1A64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06640" y="1828800"/>
            <a:ext cx="1874520" cy="1965960"/>
          </a:xfrm>
          <a:prstGeom prst="roundRect">
            <a:avLst>
              <a:gd name="adj" fmla="val 2927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71232" y="1975104"/>
            <a:ext cx="1545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D3A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FINANCE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66D3A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71232" y="2359152"/>
            <a:ext cx="1545336" cy="1289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EAD • RW • RWA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 • later ALM/FTP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9281160" y="2816352"/>
            <a:ext cx="292608" cy="0"/>
          </a:xfrm>
          <a:prstGeom prst="line">
            <a:avLst/>
          </a:prstGeom>
          <a:noFill/>
          <a:ln w="20320">
            <a:solidFill>
              <a:srgbClr val="D1A64D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46920" y="1828800"/>
            <a:ext cx="1874520" cy="1965960"/>
          </a:xfrm>
          <a:prstGeom prst="roundRect">
            <a:avLst>
              <a:gd name="adj" fmla="val 2927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11512" y="1975104"/>
            <a:ext cx="1545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2C4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2C4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TUTOR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11512" y="2359152"/>
            <a:ext cx="1545336" cy="1289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• question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• coach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1234440" y="4343400"/>
            <a:ext cx="9784080" cy="960120"/>
          </a:xfrm>
          <a:prstGeom prst="roundRect">
            <a:avLst/>
          </a:prstGeom>
          <a:solidFill>
            <a:srgbClr val="0D2A3A"/>
          </a:solidFill>
          <a:ln w="16510">
            <a:solidFill>
              <a:srgbClr val="32C4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36192" y="4590288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7F9"/>
                </a:solidFill>
              </a:rPr>
              <a:t>Architectural rule: the LLM does not invent capital numbers. It calls deterministic tools and returns explanations with authoritative citations.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00200" y="5559552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8"/>
                </a:solidFill>
              </a:rPr>
              <a:t>BCBS is the canonical baseline; U.S., SAMA and CBUAE are versioned jurisdiction overlays.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9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first version simple: Python remains the finance/control layer; scale media via object storage + CDN.</a:t>
            </a:r>
            <a:endParaRPr lang="en-US" sz="1100" dirty="0"/>
          </a:p>
        </p:txBody>
      </p:sp>
      <p:pic>
        <p:nvPicPr>
          <p:cNvPr id="4" name="Image 0" descr="/mnt/data/financial_pods_assets/platform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17904"/>
            <a:ext cx="10881360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9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Infrastructure does not need to be huge at launch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pre-rendered content from realtime experiences so costs scale with user value.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337560" cy="4297680"/>
          </a:xfrm>
          <a:prstGeom prst="roundRect">
            <a:avLst>
              <a:gd name="adj" fmla="val 1644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773936"/>
            <a:ext cx="3008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6D3A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PRE-RENDER ONCE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2157984"/>
            <a:ext cx="3008376" cy="3621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video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Localized video/audio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Thumbnails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Cinematic sequences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in object storage and deliver through CDN/HLS.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33672" y="1627632"/>
            <a:ext cx="3337560" cy="4297680"/>
          </a:xfrm>
          <a:prstGeom prst="roundRect">
            <a:avLst>
              <a:gd name="adj" fmla="val 1644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98264" y="1773936"/>
            <a:ext cx="3008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2C4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REALTIME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98264" y="2157984"/>
            <a:ext cx="3008376" cy="3621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tutor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conversation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Whiteboard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Mastery updates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live avatar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81544" y="1627632"/>
            <a:ext cx="3730752" cy="4297680"/>
          </a:xfrm>
          <a:prstGeom prst="roundRect">
            <a:avLst>
              <a:gd name="adj" fmla="val 1471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6136" y="1773936"/>
            <a:ext cx="34015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1A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UNIT ECONOMICS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46136" y="2157984"/>
            <a:ext cx="3401568" cy="3621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Text: generous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Voice: fair-use / premium quota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avatar: premium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video: offline production</a:t>
            </a:r>
            <a:endParaRPr lang="en-US" sz="1170" dirty="0"/>
          </a:p>
          <a:p>
            <a:pPr indent="0" marL="0">
              <a:buNone/>
            </a:pP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/ Polars / Postgres are enough for learning portfolios. Spark only later for large enterprise simulations.</a:t>
            </a:r>
            <a:endParaRPr lang="en-US" sz="11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9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Yes — partner with bankers, but structure the relationship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need practitioners for accuracy, realism and distribution — not necessarily as co-founders.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337560" cy="4251960"/>
          </a:xfrm>
          <a:prstGeom prst="roundRect">
            <a:avLst>
              <a:gd name="adj" fmla="val 1644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773936"/>
            <a:ext cx="3008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1A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REGULATORY CONTENT COUNCIL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2157984"/>
            <a:ext cx="3008376" cy="3575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U.S./BCBS capital SME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Saudi/SAMA SME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UAE/CBUAE SME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/ reporting practitioner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interpretations, examples and calculations.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4233672" y="1627632"/>
            <a:ext cx="3337560" cy="4251960"/>
          </a:xfrm>
          <a:prstGeom prst="roundRect">
            <a:avLst>
              <a:gd name="adj" fmla="val 1644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98264" y="1773936"/>
            <a:ext cx="3008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2C4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INDUSTRY LEARNING COUNCIL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98264" y="2157984"/>
            <a:ext cx="3008376" cy="3575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 manager / analyst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Regulatory consultant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Treasury practitioner later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 L&amp;D buyer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experience feel like actual bank work.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81544" y="1627632"/>
            <a:ext cx="3730752" cy="4251960"/>
          </a:xfrm>
          <a:prstGeom prst="roundRect">
            <a:avLst>
              <a:gd name="adj" fmla="val 1471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6136" y="1773936"/>
            <a:ext cx="34015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6D3A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BETA PRACTITIONER PANEL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46136" y="2157984"/>
            <a:ext cx="3401568" cy="3575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10–20 practitioners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U.S. / Saudi / UAE target audience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the Golden Lesson, expose confusion, challenge accuracy and validate willingness to pay.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605332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9FB3C8"/>
                </a:solidFill>
              </a:rPr>
              <a:t>Source of truth remains the official regulation — practitioner experience adds interpretation and workflow realism, not replacement rules.</a:t>
            </a:r>
            <a:endParaRPr lang="en-US" sz="10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9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Monetization: B2C first, enterprise becomes the larger prize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below is a test hypothesis — validate willingness to pay before locking tiers.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0698480" cy="438912"/>
          </a:xfrm>
          <a:prstGeom prst="roundRect">
            <a:avLst/>
          </a:prstGeom>
          <a:solidFill>
            <a:srgbClr val="0E2A3A"/>
          </a:solidFill>
          <a:ln w="12700">
            <a:solidFill>
              <a:srgbClr val="2647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1655064"/>
            <a:ext cx="2103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7F9"/>
                </a:solidFill>
              </a:rPr>
              <a:t>Free Foundations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749040" y="1655064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C4C4"/>
                </a:solidFill>
              </a:rPr>
              <a:t>$0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0" y="165506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</a:rPr>
              <a:t>Acquisition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10698480" cy="438912"/>
          </a:xfrm>
          <a:prstGeom prst="roundRect">
            <a:avLst/>
          </a:prstGeom>
          <a:solidFill>
            <a:srgbClr val="0E2A3A"/>
          </a:solidFill>
          <a:ln w="12700">
            <a:solidFill>
              <a:srgbClr val="2647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249424"/>
            <a:ext cx="2103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7F9"/>
                </a:solidFill>
              </a:rPr>
              <a:t>Individual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9040" y="2249424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C4C4"/>
                </a:solidFill>
              </a:rPr>
              <a:t>$29–49/mo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224942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</a:rPr>
              <a:t>Core content + chat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10698480" cy="438912"/>
          </a:xfrm>
          <a:prstGeom prst="roundRect">
            <a:avLst/>
          </a:prstGeom>
          <a:solidFill>
            <a:srgbClr val="0E2A3A"/>
          </a:solidFill>
          <a:ln w="12700">
            <a:solidFill>
              <a:srgbClr val="2647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843784"/>
            <a:ext cx="2103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7F9"/>
                </a:solidFill>
              </a:rPr>
              <a:t>Professional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2843784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C4C4"/>
                </a:solidFill>
              </a:rPr>
              <a:t>$59–79/mo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284378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</a:rPr>
              <a:t>Voice + labs + jurisdictions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337560"/>
            <a:ext cx="10698480" cy="438912"/>
          </a:xfrm>
          <a:prstGeom prst="roundRect">
            <a:avLst/>
          </a:prstGeom>
          <a:solidFill>
            <a:srgbClr val="0E2A3A"/>
          </a:solidFill>
          <a:ln w="12700">
            <a:solidFill>
              <a:srgbClr val="2647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3438144"/>
            <a:ext cx="2103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7F9"/>
                </a:solidFill>
              </a:rPr>
              <a:t>Professional+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3438144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C4C4"/>
                </a:solidFill>
              </a:rPr>
              <a:t>$99/mo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60720" y="343814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</a:rPr>
              <a:t>Heavy voice/viva + career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931920"/>
            <a:ext cx="10698480" cy="438912"/>
          </a:xfrm>
          <a:prstGeom prst="roundRect">
            <a:avLst/>
          </a:prstGeom>
          <a:solidFill>
            <a:srgbClr val="0E2A3A"/>
          </a:solidFill>
          <a:ln w="12700">
            <a:solidFill>
              <a:srgbClr val="2647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4032504"/>
            <a:ext cx="2103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7F9"/>
                </a:solidFill>
              </a:rPr>
              <a:t>Annual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49040" y="4032504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C4C4"/>
                </a:solidFill>
              </a:rPr>
              <a:t>$499–799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60720" y="403250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</a:rPr>
              <a:t>Cross-Pod access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526280"/>
            <a:ext cx="10698480" cy="438912"/>
          </a:xfrm>
          <a:prstGeom prst="roundRect">
            <a:avLst/>
          </a:prstGeom>
          <a:solidFill>
            <a:srgbClr val="123449"/>
          </a:solidFill>
          <a:ln w="16510">
            <a:solidFill>
              <a:srgbClr val="D1A6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" y="4626864"/>
            <a:ext cx="2103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7F9"/>
                </a:solidFill>
              </a:rPr>
              <a:t>Bank pilot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49040" y="4626864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1A64D"/>
                </a:solidFill>
              </a:rPr>
              <a:t>$10K–25K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60720" y="462686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</a:rPr>
              <a:t>Cohort validation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5120640"/>
            <a:ext cx="10698480" cy="438912"/>
          </a:xfrm>
          <a:prstGeom prst="roundRect">
            <a:avLst/>
          </a:prstGeom>
          <a:solidFill>
            <a:srgbClr val="123449"/>
          </a:solidFill>
          <a:ln w="16510">
            <a:solidFill>
              <a:srgbClr val="D1A6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976" y="5221224"/>
            <a:ext cx="2103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7F9"/>
                </a:solidFill>
              </a:rPr>
              <a:t>Bank academy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749040" y="5221224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1A64D"/>
                </a:solidFill>
              </a:rPr>
              <a:t>$25K–100K+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60720" y="5221224"/>
            <a:ext cx="4937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</a:rPr>
              <a:t>Enterprise learning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59893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C8"/>
                </a:solidFill>
              </a:rPr>
              <a:t>Future enterprise dashboard: proficiency by team, assigned Pods, weak concepts, completion, voice-viva readiness and jurisdiction specialization.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94360" y="6345936"/>
            <a:ext cx="10652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i="1" dirty="0">
                <a:solidFill>
                  <a:srgbClr val="5D78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anchors: Vizz AI pricing; CFI membership pricing; Fitch Basel training. Financial Pods prices are internal hypotheses only.</a:t>
            </a:r>
            <a:endParaRPr lang="en-US" sz="6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9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12-month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one exceptional Basel lesson first. Then industrialize the content factory and expand.</a:t>
            </a:r>
            <a:endParaRPr lang="en-US" sz="1100" dirty="0"/>
          </a:p>
        </p:txBody>
      </p:sp>
      <p:pic>
        <p:nvPicPr>
          <p:cNvPr id="4" name="Image 0" descr="/mnt/data/financial_pods_assets/roa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17904"/>
            <a:ext cx="10881360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9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90 days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immediate goal is commercial proof of one Golden Lesson — not a full Basel library.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337560" cy="4434840"/>
          </a:xfrm>
          <a:prstGeom prst="roundRect">
            <a:avLst>
              <a:gd name="adj" fmla="val 1644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773936"/>
            <a:ext cx="3008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1A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DAYS 0–30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2157984"/>
            <a:ext cx="3008376" cy="3758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Freeze Golden Lesson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Rule/content schema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BCBS + U.S. + SAMA + UAE mapping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Alpha Manufacturing data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 calculation APIs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script + Arabic glossary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Recruit 3 core SMEs</a:t>
            </a:r>
            <a:endParaRPr lang="en-US" sz="1240" dirty="0"/>
          </a:p>
        </p:txBody>
      </p:sp>
      <p:sp>
        <p:nvSpPr>
          <p:cNvPr id="7" name="Shape 5"/>
          <p:cNvSpPr/>
          <p:nvPr/>
        </p:nvSpPr>
        <p:spPr>
          <a:xfrm>
            <a:off x="4233672" y="1627632"/>
            <a:ext cx="3337560" cy="4434840"/>
          </a:xfrm>
          <a:prstGeom prst="roundRect">
            <a:avLst>
              <a:gd name="adj" fmla="val 1644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98264" y="1773936"/>
            <a:ext cx="3008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2C4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DAYS 31–60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98264" y="2157984"/>
            <a:ext cx="3008376" cy="3758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lesson player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timeline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chat tutor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calculator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visuals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+ Arabic media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clone experiment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Mode + basic mastery</a:t>
            </a:r>
            <a:endParaRPr lang="en-US" sz="1190" dirty="0"/>
          </a:p>
        </p:txBody>
      </p:sp>
      <p:sp>
        <p:nvSpPr>
          <p:cNvPr id="10" name="Shape 8"/>
          <p:cNvSpPr/>
          <p:nvPr/>
        </p:nvSpPr>
        <p:spPr>
          <a:xfrm>
            <a:off x="7781544" y="1627632"/>
            <a:ext cx="3730752" cy="4434840"/>
          </a:xfrm>
          <a:prstGeom prst="roundRect">
            <a:avLst>
              <a:gd name="adj" fmla="val 1471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6136" y="1773936"/>
            <a:ext cx="34015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6D3A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DAYS 61–90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46136" y="2157984"/>
            <a:ext cx="3401568" cy="3758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Realtime voice interruption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viva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practice cases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+ cost telemetry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10–20 practitioner betas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Pre/post learning test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Willingness-to-pay test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 / Refine / Stop gate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9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gates before scaling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should earn the right to build the full Basel Pod.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3232" y="1572768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719072"/>
            <a:ext cx="4882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1A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Accuracy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7824" y="2103120"/>
            <a:ext cx="4882896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unresolved material regulatory or calculation errors.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572768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2512" y="1719072"/>
            <a:ext cx="4882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2C4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82512" y="2103120"/>
            <a:ext cx="4882896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can explain and calculate the target concept better after the lesson.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3232" y="3054096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3200400"/>
            <a:ext cx="4882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7AED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Engagement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77824" y="3584448"/>
            <a:ext cx="4882896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Learners use pause/ask, labs or voice — not only video.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054096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3200400"/>
            <a:ext cx="4882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6D3A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Willingness to pay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82512" y="3584448"/>
            <a:ext cx="4882896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Individuals would pay or practitioners would recommend a bank/team pilot.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3232" y="4535424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4681728"/>
            <a:ext cx="4882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2C4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7824" y="5065776"/>
            <a:ext cx="4882896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002 can be produced materially faster using the same factory.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4535424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102A40"/>
          </a:solidFill>
          <a:ln w="15240">
            <a:solidFill>
              <a:srgbClr val="2647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4681728"/>
            <a:ext cx="4882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1A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Transferability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82512" y="5065776"/>
            <a:ext cx="4882896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architecture can support Reporting or ALM without a rewrite.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6080760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6D3A0"/>
                </a:solidFill>
              </a:rPr>
              <a:t>Immediate implementation focus: lesson-content schema + deterministic calculator API + semantic timeline + grounded tutor.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9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sources — regulation &amp; learning market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current sources used to ground the strategy.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572768"/>
            <a:ext cx="10698480" cy="4526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BIS Basel Framework — https://www.bis.org/basel_framework/chapter/CRE/20.htm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Federal Reserve March 19, 2026 capital proposals — https://www.federalreserve.gov/newsevents/pressreleases/bcreg20260319a.htm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SAMA Minimum Capital Requirements for Credit Risk — https://rulebook.sama.gov.sa/en/minimum-capital-requirements-credit-risk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CBUAE Capital Adequacy Standards — https://rulebook.centralbank.ae/en/rulebook/standards-capital-adequacy-banks-uae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Vizz AI pricing/features — https://vizz.vizuara.ai/pricing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CFI AI Tutor — https://corporatefinanceinstitute.com/news/ai-tutor/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CFI membership pricing — https://corporatefinanceinstitute.com/pricing/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Fitch Basel III training — https://fitchlearning.com/course/risk-and-regulatory/bank-capital-adequacy-under-basel-iii/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Scientific Reports AI tutor study — https://www.nature.com/articles/s41598-025-97652-6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F3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ACAMS CAMS Certification — https://www.acams.org/en/certifications/cams-certification</a:t>
            </a:r>
            <a:endParaRPr lang="en-US" sz="1040" dirty="0"/>
          </a:p>
        </p:txBody>
      </p:sp>
      <p:sp>
        <p:nvSpPr>
          <p:cNvPr id="5" name="Text 3"/>
          <p:cNvSpPr/>
          <p:nvPr/>
        </p:nvSpPr>
        <p:spPr>
          <a:xfrm>
            <a:off x="822960" y="60807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A64D"/>
                </a:solidFill>
              </a:rPr>
              <a:t>Re-verify product features and pricing before commercial commitments; these can change.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079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futuristic_ui_technology_sce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1">
              <a:alpha val="82000"/>
            </a:srgbClr>
          </a:solidFill>
          <a:ln w="12700">
            <a:solidFill>
              <a:srgbClr val="06142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94360" y="594360"/>
            <a:ext cx="10972800" cy="5669280"/>
          </a:xfrm>
          <a:prstGeom prst="roundRect">
            <a:avLst/>
          </a:prstGeom>
          <a:solidFill>
            <a:srgbClr val="071722">
              <a:alpha val="90000"/>
            </a:srgbClr>
          </a:solidFill>
          <a:ln w="12700">
            <a:solidFill>
              <a:srgbClr val="26475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10058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one lesson that proves the company.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60120" y="196596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9FB3C8"/>
                </a:solidFill>
              </a:rPr>
              <a:t>Golden Lesson 001: Corporate Exposure → English + Arabic → official sources → deterministic RWA calculation → pause &amp; ask → realtime voice → jurisdiction comparison → practice → voice viva → mastery.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40690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1A64D"/>
                </a:solidFill>
              </a:rPr>
              <a:t>Then scale the factory — not before.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863840" y="105156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3F7F9"/>
                </a:solidFill>
              </a:rPr>
              <a:t>Media / voice source references: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3F7F9"/>
                </a:solidFill>
              </a:rPr>
              <a:t>ElevenLabs voice cloning — https://elevenlabs.io/voice-cloning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3F7F9"/>
                </a:solidFill>
              </a:rPr>
              <a:t>HeyGen LiveAvatar — https://www.heygen.com/blog/how-to-activate-your-audience-with-personalization-and-interactivity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3F7F9"/>
                </a:solidFill>
              </a:rPr>
              <a:t>Google Nano Banana 2 — https://blog.google/innovation-and-ai/technology/ai/nano-banana-2/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3F7F9"/>
                </a:solidFill>
              </a:rPr>
              <a:t>Google DeepMind Veo 3.1 — https://deepmind.google/models/veo/</a:t>
            </a:r>
            <a:endParaRPr lang="en-US" sz="870" dirty="0"/>
          </a:p>
        </p:txBody>
      </p:sp>
      <p:sp>
        <p:nvSpPr>
          <p:cNvPr id="9" name="Text 6"/>
          <p:cNvSpPr/>
          <p:nvPr/>
        </p:nvSpPr>
        <p:spPr>
          <a:xfrm>
            <a:off x="960120" y="5669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2C4C4"/>
                </a:solidFill>
              </a:rPr>
              <a:t>FINANCIAL PODS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Financial Pods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Pods — AI-Native Banking &amp; Regulatory Learning Platform</dc:title>
  <dc:subject>Financial Pods strategy and implementation blueprint</dc:subject>
  <dc:creator>OpenAI</dc:creator>
  <cp:lastModifiedBy>OpenAI</cp:lastModifiedBy>
  <cp:revision>1</cp:revision>
  <dcterms:created xsi:type="dcterms:W3CDTF">2026-08-16T12:56:21Z</dcterms:created>
  <dcterms:modified xsi:type="dcterms:W3CDTF">2026-08-16T12:56:21Z</dcterms:modified>
</cp:coreProperties>
</file>